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C9A04A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3" name="Picture 2" descr="logo_white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18" y="411480"/>
            <a:ext cx="1536459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" y="1417320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ІНТЕРНЕТ-МАГАЗИН АВТОЗАПЧАСТИН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6217920" cy="1554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Демонстрація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Premier Parts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502920"/>
            <a:ext cx="4343400" cy="5669280"/>
          </a:xfrm>
          <a:prstGeom prst="roundRect">
            <a:avLst/>
          </a:prstGeom>
          <a:solidFill>
            <a:srgbClr val="22262B"/>
          </a:solidFill>
          <a:ln w="1016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white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051560"/>
            <a:ext cx="3840480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79792" y="4983480"/>
            <a:ext cx="3584448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Пошук · Сумісність · Продаж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5413248"/>
            <a:ext cx="358444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F1D78E"/>
                </a:solidFill>
                <a:latin typeface="Aptos"/>
              </a:defRPr>
            </a:pPr>
            <a:r>
              <a:t>єдиний цифровий сценарій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ПОТОЧНИЙ 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Що вже створено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5960"/>
                </a:solidFill>
                <a:latin typeface="Aptos"/>
              </a:defRPr>
            </a:pPr>
            <a:r>
              <a:t>Функціональна V1 для демонстрації, продажу та керування каталогом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254203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139696"/>
            <a:ext cx="2103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8A6414"/>
                </a:solidFill>
                <a:latin typeface="Aptos Display"/>
              </a:defRPr>
            </a:pPr>
            <a:r>
              <a:t>2 681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97480"/>
            <a:ext cx="21214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737A83"/>
                </a:solidFill>
                <a:latin typeface="Aptos"/>
              </a:defRPr>
            </a:pPr>
            <a:r>
              <a:t>товар у демо-каталозі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38528"/>
            <a:ext cx="254203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2139696"/>
            <a:ext cx="2103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8A6414"/>
                </a:solidFill>
                <a:latin typeface="Aptos Display"/>
              </a:defRPr>
            </a:pPr>
            <a:r>
              <a:t>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697480"/>
            <a:ext cx="21214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737A83"/>
                </a:solidFill>
                <a:latin typeface="Aptos"/>
              </a:defRPr>
            </a:pPr>
            <a:r>
              <a:t>марка автомобілів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38528"/>
            <a:ext cx="254203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2103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8A6414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1214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737A83"/>
                </a:solidFill>
                <a:latin typeface="Aptos"/>
              </a:defRPr>
            </a:pPr>
            <a:r>
              <a:t>основних категорій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938528"/>
            <a:ext cx="254203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2139696"/>
            <a:ext cx="2103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8A641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697480"/>
            <a:ext cx="21214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737A83"/>
                </a:solidFill>
                <a:latin typeface="Aptos"/>
              </a:defRPr>
            </a:pPr>
            <a:r>
              <a:t>адаптивні формати: desktop +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84448"/>
            <a:ext cx="10863072" cy="2267712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886200"/>
            <a:ext cx="41148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V1 закриває повний шлях клієнта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455371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9576" y="4480560"/>
            <a:ext cx="41513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розумний пошук і VIN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" y="497433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9576" y="4901184"/>
            <a:ext cx="41513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каталог, фільтри та сумісність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" y="539496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9576" y="5321808"/>
            <a:ext cx="41513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товар, кошик та оформлення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55371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4480560"/>
            <a:ext cx="4288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мобільна версія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97433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4224" y="4901184"/>
            <a:ext cx="4288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акції, банери й контент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539496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64224" y="5321808"/>
            <a:ext cx="4288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3E5E7"/>
                </a:solidFill>
                <a:latin typeface="Aptos"/>
              </a:defRPr>
            </a:pPr>
            <a:r>
              <a:t>адмінка, імпорт та керування цінами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КЛІЄНТСЬКИЙ СЦЕНАРІЙ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Від потреби до замовлення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25960"/>
                </a:solidFill>
                <a:latin typeface="Aptos"/>
              </a:defRPr>
            </a:pPr>
            <a:r>
              <a:t>Кожен етап пов’язаний з наступним і не вимагає реєстрації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240280"/>
            <a:ext cx="19933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4944" y="2441448"/>
            <a:ext cx="457200" cy="457200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441448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27248"/>
            <a:ext cx="16002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5181C"/>
                </a:solidFill>
                <a:latin typeface="Aptos"/>
              </a:defRPr>
            </a:pPr>
            <a:r>
              <a:t>Знайти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675887"/>
            <a:ext cx="170078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rPr dirty="0" err="1"/>
              <a:t>Назва</a:t>
            </a:r>
            <a:r>
              <a:rPr dirty="0"/>
              <a:t>, </a:t>
            </a:r>
            <a:r>
              <a:rPr dirty="0" err="1"/>
              <a:t>артикул</a:t>
            </a:r>
            <a:r>
              <a:rPr dirty="0"/>
              <a:t>, </a:t>
            </a:r>
            <a:r>
              <a:rPr dirty="0" smtClean="0"/>
              <a:t>OEM</a:t>
            </a:r>
            <a:r>
              <a:rPr lang="en-US" dirty="0" smtClean="0"/>
              <a:t>, </a:t>
            </a:r>
            <a:r>
              <a:rPr dirty="0" smtClean="0"/>
              <a:t>VIN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542032" y="3182112"/>
            <a:ext cx="292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8A641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240280"/>
            <a:ext cx="19933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26664" y="2441448"/>
            <a:ext cx="457200" cy="457200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2441448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127248"/>
            <a:ext cx="16002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5181C"/>
                </a:solidFill>
                <a:latin typeface="Aptos"/>
              </a:defRPr>
            </a:pPr>
            <a:r>
              <a:t>Уточнити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675887"/>
            <a:ext cx="1609344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Авто, категорія, фільтри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182112"/>
            <a:ext cx="292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8A641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2240280"/>
            <a:ext cx="19933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58383" y="2441448"/>
            <a:ext cx="457200" cy="457200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58383" y="2441448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3127248"/>
            <a:ext cx="16002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5181C"/>
                </a:solidFill>
                <a:latin typeface="Aptos"/>
              </a:defRPr>
            </a:pPr>
            <a:r>
              <a:t>Перевірити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3675887"/>
            <a:ext cx="1609344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Фото, ціна, сумісність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182112"/>
            <a:ext cx="292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8A641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1" y="2240280"/>
            <a:ext cx="19933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90103" y="2441448"/>
            <a:ext cx="457200" cy="457200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0103" y="2441448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3" y="3127248"/>
            <a:ext cx="16002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5181C"/>
                </a:solidFill>
                <a:latin typeface="Aptos"/>
              </a:defRPr>
            </a:pPr>
            <a:r>
              <a:t>Замовити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3" y="3675887"/>
            <a:ext cx="1609344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Кошик або купівля в 1 клік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182112"/>
            <a:ext cx="292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8A641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2240280"/>
            <a:ext cx="19933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021824" y="2441448"/>
            <a:ext cx="457200" cy="457200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21824" y="2441448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1D78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3127248"/>
            <a:ext cx="16002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5181C"/>
                </a:solidFill>
                <a:latin typeface="Aptos"/>
              </a:defRPr>
            </a:pPr>
            <a:r>
              <a:t>Опрацювати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3675887"/>
            <a:ext cx="1609344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Замовлення в адмінці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285232"/>
            <a:ext cx="987552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15181C"/>
                </a:solidFill>
                <a:latin typeface="Aptos"/>
              </a:defRPr>
            </a:pPr>
            <a:r>
              <a:t>Результат: менше ручного пошуку, зрозуміліший вибір і коротший шлях до заявки.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КЛЮЧОВА ФІЧА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Один пошук замість десятків полів</a:t>
            </a:r>
          </a:p>
        </p:txBody>
      </p:sp>
      <p:pic>
        <p:nvPicPr>
          <p:cNvPr id="6" name="Picture 5" descr="03-smart-search.png"/>
          <p:cNvPicPr>
            <a:picLocks noChangeAspect="1"/>
          </p:cNvPicPr>
          <p:nvPr/>
        </p:nvPicPr>
        <p:blipFill rotWithShape="1">
          <a:blip r:embed="rId2"/>
          <a:srcRect l="4316" r="4259"/>
          <a:stretch/>
        </p:blipFill>
        <p:spPr>
          <a:xfrm>
            <a:off x="4746868" y="1261872"/>
            <a:ext cx="7196316" cy="4919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89888"/>
            <a:ext cx="361188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15181C"/>
                </a:solidFill>
                <a:latin typeface="Aptos"/>
              </a:defRPr>
            </a:pPr>
            <a:r>
              <a:t>Система розуміє запит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3055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3099815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25960"/>
                </a:solidFill>
                <a:latin typeface="Aptos"/>
              </a:defRPr>
            </a:pPr>
            <a:r>
              <a:t>назва деталі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4261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569464"/>
            <a:ext cx="3099815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25960"/>
                </a:solidFill>
                <a:latin typeface="Aptos"/>
              </a:defRPr>
            </a:pPr>
            <a:r>
              <a:t>артикул або OEM-номер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15468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081528"/>
            <a:ext cx="3099815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25960"/>
                </a:solidFill>
                <a:latin typeface="Aptos"/>
              </a:defRPr>
            </a:pPr>
            <a:r>
              <a:t>марка, модель і покоління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6674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593592"/>
            <a:ext cx="3099815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25960"/>
                </a:solidFill>
                <a:latin typeface="Aptos"/>
              </a:defRPr>
            </a:pPr>
            <a:r>
              <a:t>VIN-код автомобіля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480560"/>
            <a:ext cx="3611880" cy="1207008"/>
          </a:xfrm>
          <a:prstGeom prst="roundRect">
            <a:avLst/>
          </a:prstGeom>
          <a:solidFill>
            <a:srgbClr val="FBF6E9"/>
          </a:solidFill>
          <a:ln w="10160">
            <a:solidFill>
              <a:srgbClr val="EA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27448"/>
            <a:ext cx="286168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8A6414"/>
                </a:solidFill>
                <a:latin typeface="Aptos"/>
              </a:defRPr>
            </a:pPr>
            <a:r>
              <a:rPr dirty="0"/>
              <a:t>У </a:t>
            </a:r>
            <a:r>
              <a:rPr dirty="0" err="1"/>
              <a:t>підказці</a:t>
            </a:r>
            <a:r>
              <a:rPr dirty="0"/>
              <a:t> </a:t>
            </a:r>
            <a:r>
              <a:rPr dirty="0" err="1"/>
              <a:t>одразу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 </a:t>
            </a:r>
            <a:r>
              <a:rPr dirty="0" err="1"/>
              <a:t>товар</a:t>
            </a:r>
            <a:r>
              <a:rPr dirty="0"/>
              <a:t>, </a:t>
            </a:r>
            <a:r>
              <a:rPr dirty="0" err="1"/>
              <a:t>ціну</a:t>
            </a:r>
            <a:r>
              <a:rPr dirty="0"/>
              <a:t>, </a:t>
            </a:r>
            <a:endParaRPr lang="en-US" dirty="0" smtClean="0"/>
          </a:p>
          <a:p>
            <a:pPr algn="l">
              <a:lnSpc>
                <a:spcPct val="100000"/>
              </a:lnSpc>
              <a:defRPr sz="1200" b="1">
                <a:solidFill>
                  <a:srgbClr val="8A6414"/>
                </a:solidFill>
                <a:latin typeface="Aptos"/>
              </a:defRPr>
            </a:pPr>
            <a:r>
              <a:rPr dirty="0" err="1" smtClean="0"/>
              <a:t>наявність</a:t>
            </a:r>
            <a:r>
              <a:rPr dirty="0" smtClean="0"/>
              <a:t> </a:t>
            </a:r>
            <a:r>
              <a:rPr dirty="0"/>
              <a:t>і </a:t>
            </a:r>
            <a:r>
              <a:rPr dirty="0" err="1"/>
              <a:t>те</a:t>
            </a:r>
            <a:r>
              <a:rPr dirty="0"/>
              <a:t>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зрозуміла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КАТАЛОГ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Швидке звуження до потрібної деталі</a:t>
            </a:r>
          </a:p>
        </p:txBody>
      </p:sp>
      <p:pic>
        <p:nvPicPr>
          <p:cNvPr id="6" name="Picture 5" descr="04-catalog-filters.png"/>
          <p:cNvPicPr>
            <a:picLocks noChangeAspect="1"/>
          </p:cNvPicPr>
          <p:nvPr/>
        </p:nvPicPr>
        <p:blipFill>
          <a:blip r:embed="rId2"/>
          <a:srcRect l="3570" r="3570"/>
          <a:stretch>
            <a:fillRect/>
          </a:stretch>
        </p:blipFill>
        <p:spPr>
          <a:xfrm>
            <a:off x="658368" y="1234440"/>
            <a:ext cx="7635240" cy="5138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234440"/>
            <a:ext cx="7635240" cy="5138928"/>
          </a:xfrm>
          <a:prstGeom prst="rect">
            <a:avLst/>
          </a:prstGeom>
          <a:noFill/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77072" y="1234440"/>
            <a:ext cx="2944368" cy="5138928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627632"/>
            <a:ext cx="22860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Фільтри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240487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2331720"/>
            <a:ext cx="2002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7E9EA"/>
                </a:solidFill>
                <a:latin typeface="Aptos"/>
              </a:defRPr>
            </a:pPr>
            <a:r>
              <a:t>виробник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2898648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25712" y="2825496"/>
            <a:ext cx="2002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7E9EA"/>
                </a:solidFill>
                <a:latin typeface="Aptos"/>
              </a:defRPr>
            </a:pPr>
            <a:r>
              <a:t>ліва / права сторона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339242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3319272"/>
            <a:ext cx="2002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7E9EA"/>
                </a:solidFill>
                <a:latin typeface="Aptos"/>
              </a:defRPr>
            </a:pPr>
            <a:r>
              <a:t>наявність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88620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2" y="3813048"/>
            <a:ext cx="2002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7E9EA"/>
                </a:solidFill>
                <a:latin typeface="Aptos"/>
              </a:defRPr>
            </a:pPr>
            <a:r>
              <a:t>діапазон ціни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437997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4306824"/>
            <a:ext cx="200253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7E9EA"/>
                </a:solidFill>
                <a:latin typeface="Aptos"/>
              </a:defRPr>
            </a:pPr>
            <a:r>
              <a:t>популярність або ціна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5212080"/>
            <a:ext cx="2401298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1D78E"/>
                </a:solidFill>
                <a:latin typeface="Aptos"/>
              </a:defRPr>
            </a:pPr>
            <a:r>
              <a:rPr dirty="0" err="1"/>
              <a:t>Параметри</a:t>
            </a:r>
            <a:r>
              <a:rPr dirty="0"/>
              <a:t> </a:t>
            </a:r>
            <a:r>
              <a:rPr dirty="0" err="1"/>
              <a:t>зберігаються</a:t>
            </a:r>
            <a:r>
              <a:rPr dirty="0"/>
              <a:t> в URL </a:t>
            </a:r>
            <a:endParaRPr lang="en-US" dirty="0" smtClean="0"/>
          </a:p>
          <a:p>
            <a:pPr algn="l">
              <a:lnSpc>
                <a:spcPct val="100000"/>
              </a:lnSpc>
              <a:defRPr sz="1100" b="1">
                <a:solidFill>
                  <a:srgbClr val="F1D78E"/>
                </a:solidFill>
                <a:latin typeface="Aptos"/>
              </a:defRPr>
            </a:pPr>
            <a:r>
              <a:rPr dirty="0" smtClean="0"/>
              <a:t>— </a:t>
            </a:r>
            <a:r>
              <a:rPr dirty="0" err="1"/>
              <a:t>посиланням</a:t>
            </a:r>
            <a:r>
              <a:rPr dirty="0"/>
              <a:t> </a:t>
            </a:r>
            <a:r>
              <a:rPr dirty="0" err="1"/>
              <a:t>можна</a:t>
            </a:r>
            <a:r>
              <a:rPr dirty="0"/>
              <a:t> </a:t>
            </a:r>
            <a:r>
              <a:rPr dirty="0" err="1"/>
              <a:t>поділитися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ПІДБІР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Автомобіль і VIN як основа сумісності</a:t>
            </a:r>
          </a:p>
        </p:txBody>
      </p:sp>
      <p:pic>
        <p:nvPicPr>
          <p:cNvPr id="6" name="Picture 5" descr="05-car-selection.png"/>
          <p:cNvPicPr>
            <a:picLocks noChangeAspect="1"/>
          </p:cNvPicPr>
          <p:nvPr/>
        </p:nvPicPr>
        <p:blipFill rotWithShape="1">
          <a:blip r:embed="rId2"/>
          <a:srcRect l="5629" r="5085"/>
          <a:stretch/>
        </p:blipFill>
        <p:spPr>
          <a:xfrm>
            <a:off x="152247" y="1483658"/>
            <a:ext cx="5809641" cy="4066749"/>
          </a:xfrm>
          <a:prstGeom prst="rect">
            <a:avLst/>
          </a:prstGeom>
        </p:spPr>
      </p:pic>
      <p:pic>
        <p:nvPicPr>
          <p:cNvPr id="8" name="Picture 7" descr="06-vin.png"/>
          <p:cNvPicPr>
            <a:picLocks noChangeAspect="1"/>
          </p:cNvPicPr>
          <p:nvPr/>
        </p:nvPicPr>
        <p:blipFill rotWithShape="1">
          <a:blip r:embed="rId3"/>
          <a:srcRect l="4937" r="5217"/>
          <a:stretch/>
        </p:blipFill>
        <p:spPr>
          <a:xfrm>
            <a:off x="6035814" y="1543607"/>
            <a:ext cx="5759946" cy="4006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05272"/>
            <a:ext cx="3840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5181C"/>
                </a:solidFill>
                <a:latin typeface="Aptos"/>
              </a:defRPr>
            </a:pPr>
            <a:r>
              <a:t>Марка → модель → покоління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05272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5181C"/>
                </a:solidFill>
                <a:latin typeface="Aptos"/>
              </a:defRPr>
            </a:pPr>
            <a:r>
              <a:t>VIN → розшифровка → відповідні авто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89320"/>
            <a:ext cx="52120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«Моє авто» зберігається без реєстрації та персоналізує каталог.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989320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A6414"/>
                </a:solidFill>
                <a:latin typeface="Aptos"/>
              </a:defRPr>
            </a:pPr>
            <a:r>
              <a:t>Точний OEM-підбір можна розширити інтеграцією TecDoc / Laximo.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КАРТКА ТОВАРУ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Уся інформація для рішення про покупку</a:t>
            </a:r>
          </a:p>
        </p:txBody>
      </p:sp>
      <p:pic>
        <p:nvPicPr>
          <p:cNvPr id="6" name="Picture 5" descr="07-product.png"/>
          <p:cNvPicPr>
            <a:picLocks noChangeAspect="1"/>
          </p:cNvPicPr>
          <p:nvPr/>
        </p:nvPicPr>
        <p:blipFill>
          <a:blip r:embed="rId2"/>
          <a:srcRect t="11077" b="11077"/>
          <a:stretch>
            <a:fillRect/>
          </a:stretch>
        </p:blipFill>
        <p:spPr>
          <a:xfrm>
            <a:off x="658368" y="1170432"/>
            <a:ext cx="10863072" cy="5285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170432"/>
            <a:ext cx="10863072" cy="5285232"/>
          </a:xfrm>
          <a:prstGeom prst="rect">
            <a:avLst/>
          </a:prstGeom>
          <a:noFill/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26679" y="4315968"/>
            <a:ext cx="3493008" cy="1764792"/>
          </a:xfrm>
          <a:prstGeom prst="round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73568" y="462686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4553712"/>
            <a:ext cx="25511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FFFFF"/>
                </a:solidFill>
                <a:latin typeface="Aptos"/>
              </a:defRPr>
            </a:pPr>
            <a:r>
              <a:t>фото й збільшення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496519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4892040"/>
            <a:ext cx="25511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FFFFF"/>
                </a:solidFill>
                <a:latin typeface="Aptos"/>
              </a:defRPr>
            </a:pPr>
            <a:r>
              <a:t>OEM та артикул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30352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5230368"/>
            <a:ext cx="25511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FFFFF"/>
                </a:solidFill>
                <a:latin typeface="Aptos"/>
              </a:defRPr>
            </a:pPr>
            <a:r>
              <a:t>акція, ціна, наявність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5641848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5568696"/>
            <a:ext cx="255117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FFFFF"/>
                </a:solidFill>
                <a:latin typeface="Aptos"/>
              </a:defRPr>
            </a:pPr>
            <a:r>
              <a:t>кошик або 1 клік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ПРОДАЖ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Кошик та оформлення замовлення</a:t>
            </a:r>
          </a:p>
        </p:txBody>
      </p:sp>
      <p:pic>
        <p:nvPicPr>
          <p:cNvPr id="6" name="Picture 5" descr="08-cart.png"/>
          <p:cNvPicPr>
            <a:picLocks noChangeAspect="1"/>
          </p:cNvPicPr>
          <p:nvPr/>
        </p:nvPicPr>
        <p:blipFill rotWithShape="1">
          <a:blip r:embed="rId2"/>
          <a:srcRect l="5711" r="5137"/>
          <a:stretch/>
        </p:blipFill>
        <p:spPr>
          <a:xfrm>
            <a:off x="391885" y="1448024"/>
            <a:ext cx="5561044" cy="3898593"/>
          </a:xfrm>
          <a:prstGeom prst="rect">
            <a:avLst/>
          </a:prstGeom>
        </p:spPr>
      </p:pic>
      <p:pic>
        <p:nvPicPr>
          <p:cNvPr id="8" name="Picture 7" descr="09-checkout.png"/>
          <p:cNvPicPr>
            <a:picLocks noChangeAspect="1"/>
          </p:cNvPicPr>
          <p:nvPr/>
        </p:nvPicPr>
        <p:blipFill rotWithShape="1">
          <a:blip r:embed="rId3"/>
          <a:srcRect l="5319" r="4589"/>
          <a:stretch/>
        </p:blipFill>
        <p:spPr>
          <a:xfrm>
            <a:off x="6144768" y="1429411"/>
            <a:ext cx="5645021" cy="39161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69280"/>
            <a:ext cx="13716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5181C"/>
                </a:solidFill>
                <a:latin typeface="Aptos"/>
              </a:defRPr>
            </a:pPr>
            <a:r>
              <a:t>Кошик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669280"/>
            <a:ext cx="39319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25960"/>
                </a:solidFill>
                <a:latin typeface="Aptos"/>
              </a:defRPr>
            </a:pPr>
            <a:r>
              <a:t>кількість, знижка, серверна перевірка цін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5669280"/>
            <a:ext cx="13716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5181C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5669280"/>
            <a:ext cx="4187952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25960"/>
                </a:solidFill>
                <a:latin typeface="Aptos"/>
              </a:defRPr>
            </a:pPr>
            <a:r>
              <a:t>Нова Пошта, кур’єр, самовивіз, таксі та способи оплати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КЕРУВАННЯ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Адмінка для щоденної роботи</a:t>
            </a:r>
          </a:p>
        </p:txBody>
      </p:sp>
      <p:pic>
        <p:nvPicPr>
          <p:cNvPr id="6" name="Picture 5" descr="12-admin-products.png"/>
          <p:cNvPicPr>
            <a:picLocks noChangeAspect="1"/>
          </p:cNvPicPr>
          <p:nvPr/>
        </p:nvPicPr>
        <p:blipFill rotWithShape="1">
          <a:blip r:embed="rId2"/>
          <a:srcRect l="1413" r="655"/>
          <a:stretch/>
        </p:blipFill>
        <p:spPr>
          <a:xfrm>
            <a:off x="503853" y="1225296"/>
            <a:ext cx="8052318" cy="5138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3853" y="1225296"/>
            <a:ext cx="8018353" cy="5138928"/>
          </a:xfrm>
          <a:prstGeom prst="rect">
            <a:avLst/>
          </a:prstGeom>
          <a:noFill/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13648" y="1225296"/>
            <a:ext cx="2907792" cy="5138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572768"/>
            <a:ext cx="23317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15181C"/>
                </a:solidFill>
                <a:latin typeface="Aptos"/>
              </a:defRPr>
            </a:pPr>
            <a:r>
              <a:t>Менеджер може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231343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2240280"/>
            <a:ext cx="2029967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редагувати ціни й наявність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2807208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25712" y="2734056"/>
            <a:ext cx="2029967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керувати товарами та авто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330098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3227832"/>
            <a:ext cx="2029967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бачити замовлення й VIN-запити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79476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2" y="3721608"/>
            <a:ext cx="2029967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створювати акції та банери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428853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4215384"/>
            <a:ext cx="2029967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t>імпортувати / експортувати дані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78231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25712" y="4709160"/>
            <a:ext cx="1473160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rPr dirty="0" err="1"/>
              <a:t>редагувати</a:t>
            </a:r>
            <a:r>
              <a:rPr dirty="0"/>
              <a:t> </a:t>
            </a:r>
            <a:r>
              <a:rPr dirty="0" err="1"/>
              <a:t>сторінки</a:t>
            </a:r>
            <a:r>
              <a:rPr dirty="0"/>
              <a:t> й </a:t>
            </a:r>
            <a:endParaRPr lang="en-US" dirty="0" smtClean="0"/>
          </a:p>
          <a:p>
            <a:pPr algn="l">
              <a:lnSpc>
                <a:spcPct val="100000"/>
              </a:lnSpc>
              <a:defRPr sz="1100" b="0">
                <a:solidFill>
                  <a:srgbClr val="525960"/>
                </a:solidFill>
                <a:latin typeface="Aptos"/>
              </a:defRPr>
            </a:pPr>
            <a:r>
              <a:rPr dirty="0" err="1" smtClean="0"/>
              <a:t>налаштування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737A8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8A6414"/>
                </a:solidFill>
                <a:latin typeface="Aptos"/>
              </a:defRPr>
            </a:pPr>
            <a:r>
              <a:t>ГОТОВНІСТЬ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5181C"/>
                </a:solidFill>
                <a:latin typeface="Aptos Display"/>
              </a:defRPr>
            </a:pPr>
            <a:r>
              <a:t>Чесний статус перед публічним запуском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21808" cy="4526280"/>
          </a:xfrm>
          <a:prstGeom prst="roundRect">
            <a:avLst/>
          </a:prstGeom>
          <a:solidFill>
            <a:srgbClr val="EEF7F1"/>
          </a:solidFill>
          <a:ln w="10160">
            <a:solidFill>
              <a:srgbClr val="BF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F7A45"/>
                </a:solidFill>
                <a:latin typeface="Aptos"/>
              </a:defRPr>
            </a:pPr>
            <a:r>
              <a:t>ГОТОВО У V1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40487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331720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основний шлях покупки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88036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807208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каталог і 2 681 демо-товар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355848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282696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пошук, VIN та «Моє авто»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831335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3758183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кошик, checkout і заявки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30682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233672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mobile-версія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78231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4709160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адмінка та базове SEO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5257800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5184648"/>
            <a:ext cx="424281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unit/backend/build перевірки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481328"/>
            <a:ext cx="5321808" cy="4526280"/>
          </a:xfrm>
          <a:prstGeom prst="roundRect">
            <a:avLst/>
          </a:prstGeom>
          <a:solidFill>
            <a:srgbClr val="FFF8EA"/>
          </a:solidFill>
          <a:ln w="10160">
            <a:solidFill>
              <a:srgbClr val="ECD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801368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8A6414"/>
                </a:solidFill>
                <a:latin typeface="Aptos"/>
              </a:defRPr>
            </a:pPr>
            <a:r>
              <a:t>ДО ЗАПУСКУ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2404872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1696" y="2331720"/>
            <a:ext cx="210333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rPr lang="ru-RU" dirty="0" err="1"/>
              <a:t>д</a:t>
            </a:r>
            <a:r>
              <a:rPr lang="ru-RU" dirty="0" err="1" smtClean="0"/>
              <a:t>одати</a:t>
            </a:r>
            <a:r>
              <a:rPr lang="ru-RU" dirty="0" smtClean="0"/>
              <a:t> </a:t>
            </a:r>
            <a:r>
              <a:rPr lang="uk-UA" dirty="0" smtClean="0"/>
              <a:t>інтеграції доставки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73952" y="2935224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2862072"/>
            <a:ext cx="158466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rPr lang="uk-UA" dirty="0"/>
              <a:t>а</a:t>
            </a:r>
            <a:r>
              <a:rPr lang="uk-UA" dirty="0" smtClean="0"/>
              <a:t>вторизація на сайті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6473952" y="3465576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11696" y="3392424"/>
            <a:ext cx="229351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rPr lang="uk-UA" dirty="0"/>
              <a:t>в</a:t>
            </a:r>
            <a:r>
              <a:rPr lang="uk-UA" dirty="0" smtClean="0"/>
              <a:t>ідстеження товару + статуси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473952" y="3995927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11696" y="3922775"/>
            <a:ext cx="1531317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rPr lang="uk-UA" dirty="0"/>
              <a:t>ф</a:t>
            </a:r>
            <a:r>
              <a:rPr lang="uk-UA" dirty="0" smtClean="0"/>
              <a:t>інальна перевірка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6473952" y="4526279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6" y="4453127"/>
            <a:ext cx="4261104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фінальний контент і повний імпорт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5056631"/>
            <a:ext cx="109728" cy="109728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11696" y="4983479"/>
            <a:ext cx="4261104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25960"/>
                </a:solidFill>
                <a:latin typeface="Aptos"/>
              </a:defRPr>
            </a:pPr>
            <a:r>
              <a:t>домен, HTTPS, аналітика й приймальне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C9A04A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3" name="Picture 2" descr="logo_white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88" y="411480"/>
            <a:ext cx="1600478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572768"/>
            <a:ext cx="685867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sz="3200" dirty="0" err="1"/>
              <a:t>Питання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фінального</a:t>
            </a:r>
            <a:r>
              <a:rPr sz="3200" dirty="0"/>
              <a:t> </a:t>
            </a:r>
            <a:r>
              <a:rPr sz="3200" dirty="0" err="1"/>
              <a:t>рішення</a:t>
            </a:r>
            <a:endParaRPr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694944" y="2514600"/>
            <a:ext cx="393192" cy="393192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514600"/>
            <a:ext cx="39319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518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32888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E7E9EA"/>
                </a:solidFill>
                <a:latin typeface="Aptos"/>
              </a:defRPr>
            </a:pPr>
            <a:r>
              <a:t>Чи закриває V1 основний сценарій продажу?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172968"/>
            <a:ext cx="393192" cy="393192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3172968"/>
            <a:ext cx="39319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518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191256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E7E9EA"/>
                </a:solidFill>
                <a:latin typeface="Aptos"/>
              </a:defRPr>
            </a:pPr>
            <a:r>
              <a:t>Які інтеграції є обов’язковими для запуску?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831335"/>
            <a:ext cx="393192" cy="393192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3831335"/>
            <a:ext cx="39319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518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849623"/>
            <a:ext cx="54777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 sz="1500" b="0">
                <a:solidFill>
                  <a:srgbClr val="E7E9EA"/>
                </a:solidFill>
                <a:latin typeface="Aptos"/>
              </a:defRPr>
            </a:pP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маєте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доступ до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для </a:t>
            </a:r>
            <a:r>
              <a:rPr lang="ru-RU" dirty="0" err="1"/>
              <a:t>синхронізації</a:t>
            </a:r>
            <a:r>
              <a:rPr lang="ru-RU" dirty="0"/>
              <a:t>?</a:t>
            </a:r>
            <a:endParaRPr lang="ru-RU" dirty="0"/>
          </a:p>
        </p:txBody>
      </p:sp>
      <p:sp>
        <p:nvSpPr>
          <p:cNvPr id="14" name="Rounded Rectangle 13"/>
          <p:cNvSpPr/>
          <p:nvPr/>
        </p:nvSpPr>
        <p:spPr>
          <a:xfrm>
            <a:off x="694944" y="4489704"/>
            <a:ext cx="393192" cy="393192"/>
          </a:xfrm>
          <a:prstGeom prst="round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4489704"/>
            <a:ext cx="39319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518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507992"/>
            <a:ext cx="303781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E7E9EA"/>
                </a:solidFill>
                <a:latin typeface="Aptos"/>
              </a:defRPr>
            </a:pPr>
            <a:r>
              <a:rPr lang="uk-UA" dirty="0" smtClean="0"/>
              <a:t>Що ще потрібно додати до сайту?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818120" y="1234440"/>
            <a:ext cx="3611880" cy="4498848"/>
          </a:xfrm>
          <a:prstGeom prst="roundRect">
            <a:avLst/>
          </a:prstGeom>
          <a:solidFill>
            <a:srgbClr val="22262B"/>
          </a:solidFill>
          <a:ln w="10160">
            <a:solidFill>
              <a:srgbClr val="3C4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ogo_white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00200"/>
            <a:ext cx="2514600" cy="251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2" y="4233672"/>
            <a:ext cx="2651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Наступний крок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09160"/>
            <a:ext cx="27889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1D78E"/>
                </a:solidFill>
                <a:latin typeface="Aptos"/>
              </a:defRPr>
            </a:pPr>
            <a:r>
              <a:t>зафіксувати рішення та scope наступного етапу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80760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1D78E"/>
                </a:solidFill>
                <a:latin typeface="Aptos"/>
              </a:defRPr>
            </a:pPr>
            <a:r>
              <a:t>Дякую за перегляд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454</Words>
  <Application>Microsoft Office PowerPoint</Application>
  <PresentationFormat>Широкоэкранный</PresentationFormat>
  <Paragraphs>133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dxvious bastard</cp:lastModifiedBy>
  <cp:revision>5</cp:revision>
  <dcterms:created xsi:type="dcterms:W3CDTF">2013-01-27T09:14:16Z</dcterms:created>
  <dcterms:modified xsi:type="dcterms:W3CDTF">2026-09-23T17:22:51Z</dcterms:modified>
  <cp:category/>
</cp:coreProperties>
</file>